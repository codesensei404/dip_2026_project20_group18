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IBM Plex Sans Bold" charset="1" panose="020B0803050203000203"/>
      <p:regular r:id="rId15"/>
    </p:embeddedFont>
    <p:embeddedFont>
      <p:font typeface="Arial" charset="1" panose="020B0604020202020204"/>
      <p:regular r:id="rId16"/>
    </p:embeddedFont>
    <p:embeddedFont>
      <p:font typeface="Arial Bold" charset="1" panose="020B0704020202020204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svg" Type="http://schemas.openxmlformats.org/officeDocument/2006/relationships/image"/><Relationship Id="rId7" Target="../media/image9.pn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svg" Type="http://schemas.openxmlformats.org/officeDocument/2006/relationships/image"/><Relationship Id="rId7" Target="../media/image9.pn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svg" Type="http://schemas.openxmlformats.org/officeDocument/2006/relationships/image"/><Relationship Id="rId7" Target="../media/image9.pn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11" Target="../media/image13.pn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svg" Type="http://schemas.openxmlformats.org/officeDocument/2006/relationships/image"/><Relationship Id="rId7" Target="../media/image9.pn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11" Target="../media/image14.png" Type="http://schemas.openxmlformats.org/officeDocument/2006/relationships/image"/><Relationship Id="rId12" Target="../media/image15.pn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svg" Type="http://schemas.openxmlformats.org/officeDocument/2006/relationships/image"/><Relationship Id="rId7" Target="../media/image9.pn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11" Target="../media/image16.pn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svg" Type="http://schemas.openxmlformats.org/officeDocument/2006/relationships/image"/><Relationship Id="rId7" Target="../media/image9.pn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svg" Type="http://schemas.openxmlformats.org/officeDocument/2006/relationships/image"/><Relationship Id="rId7" Target="../media/image9.pn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2.png" Type="http://schemas.openxmlformats.org/officeDocument/2006/relationships/image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svg" Type="http://schemas.openxmlformats.org/officeDocument/2006/relationships/image"/><Relationship Id="rId7" Target="../media/image9.pn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801B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064401" y="1109546"/>
            <a:ext cx="6159198" cy="2021581"/>
          </a:xfrm>
          <a:custGeom>
            <a:avLst/>
            <a:gdLst/>
            <a:ahLst/>
            <a:cxnLst/>
            <a:rect r="r" b="b" t="t" l="l"/>
            <a:pathLst>
              <a:path h="2021581" w="6159198">
                <a:moveTo>
                  <a:pt x="0" y="0"/>
                </a:moveTo>
                <a:lnTo>
                  <a:pt x="6159198" y="0"/>
                </a:lnTo>
                <a:lnTo>
                  <a:pt x="6159198" y="2021581"/>
                </a:lnTo>
                <a:lnTo>
                  <a:pt x="0" y="202158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064401" y="781422"/>
            <a:ext cx="6159198" cy="2021581"/>
            <a:chOff x="0" y="0"/>
            <a:chExt cx="5474843" cy="179696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474843" cy="1796923"/>
            </a:xfrm>
            <a:custGeom>
              <a:avLst/>
              <a:gdLst/>
              <a:ahLst/>
              <a:cxnLst/>
              <a:rect r="r" b="b" t="t" l="l"/>
              <a:pathLst>
                <a:path h="1796923" w="5474843">
                  <a:moveTo>
                    <a:pt x="0" y="0"/>
                  </a:moveTo>
                  <a:lnTo>
                    <a:pt x="5474843" y="0"/>
                  </a:lnTo>
                  <a:lnTo>
                    <a:pt x="5474843" y="1796923"/>
                  </a:lnTo>
                  <a:lnTo>
                    <a:pt x="0" y="1796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-2"/>
              </a:stretch>
            </a:blipFill>
          </p:spPr>
        </p:sp>
      </p:grpSp>
      <p:sp>
        <p:nvSpPr>
          <p:cNvPr name="TextBox 5" id="5"/>
          <p:cNvSpPr txBox="true"/>
          <p:nvPr/>
        </p:nvSpPr>
        <p:spPr>
          <a:xfrm rot="0">
            <a:off x="2392288" y="7025617"/>
            <a:ext cx="5831562" cy="712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b="true" sz="4199" spc="37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Group  18  -  Project 20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1970" y="3756515"/>
            <a:ext cx="18084060" cy="1882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59"/>
              </a:lnSpc>
            </a:pPr>
            <a:r>
              <a:rPr lang="en-US" b="true" sz="5400" spc="48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Classical Image Processing for Brain Tumor Segmentation in MRI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graphicFrame>
        <p:nvGraphicFramePr>
          <p:cNvPr name="Table 8" id="8"/>
          <p:cNvGraphicFramePr>
            <a:graphicFrameLocks noGrp="true"/>
          </p:cNvGraphicFramePr>
          <p:nvPr/>
        </p:nvGraphicFramePr>
        <p:xfrm>
          <a:off x="10031233" y="6372080"/>
          <a:ext cx="6222140" cy="3467100"/>
        </p:xfrm>
        <a:graphic>
          <a:graphicData uri="http://schemas.openxmlformats.org/drawingml/2006/table">
            <a:tbl>
              <a:tblPr/>
              <a:tblGrid>
                <a:gridCol w="3116637"/>
                <a:gridCol w="3105503"/>
              </a:tblGrid>
              <a:tr h="86677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b="true" sz="2100">
                          <a:solidFill>
                            <a:srgbClr val="F2F1EE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Abdulwahab Shaikh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b="true" sz="2100">
                          <a:solidFill>
                            <a:srgbClr val="F2F1EE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AU2440099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677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2F1EE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Yash Kyada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b="true" sz="2100">
                          <a:solidFill>
                            <a:srgbClr val="F2F1EE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AU2340218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677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b="true" sz="2100">
                          <a:solidFill>
                            <a:srgbClr val="F2F1EE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Srujan Yendugula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b="true" sz="2100">
                          <a:solidFill>
                            <a:srgbClr val="F2F1EE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AU2440158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677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2F1EE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Harshraj Solanki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b="true" sz="2100">
                          <a:solidFill>
                            <a:srgbClr val="F2F1EE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AU2440218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9" id="9"/>
          <p:cNvSpPr txBox="true"/>
          <p:nvPr/>
        </p:nvSpPr>
        <p:spPr>
          <a:xfrm rot="0">
            <a:off x="2812995" y="8232458"/>
            <a:ext cx="4990148" cy="606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spc="3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Proffesor - Mehul Raval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356337" y="8802688"/>
            <a:ext cx="3903464" cy="606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b="true" sz="3500" spc="31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TA - Sagar Chavda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10233" y="10132980"/>
            <a:ext cx="13861398" cy="154020"/>
          </a:xfrm>
          <a:custGeom>
            <a:avLst/>
            <a:gdLst/>
            <a:ahLst/>
            <a:cxnLst/>
            <a:rect r="r" b="b" t="t" l="l"/>
            <a:pathLst>
              <a:path h="154020" w="13861398">
                <a:moveTo>
                  <a:pt x="0" y="0"/>
                </a:moveTo>
                <a:lnTo>
                  <a:pt x="13861398" y="0"/>
                </a:lnTo>
                <a:lnTo>
                  <a:pt x="13861398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542469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0" y="10132980"/>
            <a:ext cx="18481864" cy="154020"/>
            <a:chOff x="0" y="0"/>
            <a:chExt cx="16256000" cy="1354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135509"/>
            </a:xfrm>
            <a:custGeom>
              <a:avLst/>
              <a:gdLst/>
              <a:ahLst/>
              <a:cxnLst/>
              <a:rect r="r" b="b" t="t" l="l"/>
              <a:pathLst>
                <a:path h="135509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135509"/>
                  </a:lnTo>
                  <a:lnTo>
                    <a:pt x="0" y="135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28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43930" y="9045394"/>
            <a:ext cx="2070431" cy="908008"/>
          </a:xfrm>
          <a:custGeom>
            <a:avLst/>
            <a:gdLst/>
            <a:ahLst/>
            <a:cxnLst/>
            <a:rect r="r" b="b" t="t" l="l"/>
            <a:pathLst>
              <a:path h="908008" w="2070431">
                <a:moveTo>
                  <a:pt x="0" y="0"/>
                </a:moveTo>
                <a:lnTo>
                  <a:pt x="2070431" y="0"/>
                </a:lnTo>
                <a:lnTo>
                  <a:pt x="2070431" y="908008"/>
                </a:lnTo>
                <a:lnTo>
                  <a:pt x="0" y="9080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543930" y="9045394"/>
            <a:ext cx="2070431" cy="944640"/>
            <a:chOff x="0" y="0"/>
            <a:chExt cx="1821078" cy="8308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1053" cy="830923"/>
            </a:xfrm>
            <a:custGeom>
              <a:avLst/>
              <a:gdLst/>
              <a:ahLst/>
              <a:cxnLst/>
              <a:rect r="r" b="b" t="t" l="l"/>
              <a:pathLst>
                <a:path h="830923" w="1821053">
                  <a:moveTo>
                    <a:pt x="0" y="0"/>
                  </a:moveTo>
                  <a:lnTo>
                    <a:pt x="1821053" y="0"/>
                  </a:lnTo>
                  <a:lnTo>
                    <a:pt x="1821053" y="830923"/>
                  </a:lnTo>
                  <a:lnTo>
                    <a:pt x="0" y="830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72565" t="-156165" r="-72141" b="-156511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239179" y="885825"/>
            <a:ext cx="3809643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b="true" sz="6000">
                <a:solidFill>
                  <a:srgbClr val="7D1916"/>
                </a:solidFill>
                <a:latin typeface="Arial Bold"/>
                <a:ea typeface="Arial Bold"/>
                <a:cs typeface="Arial Bold"/>
                <a:sym typeface="Arial Bold"/>
              </a:rPr>
              <a:t>Motivation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623226" y="3905250"/>
            <a:ext cx="13235412" cy="2228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2" indent="-323851" lvl="1">
              <a:lnSpc>
                <a:spcPts val="60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Brain Tumors are life threatening so their detection is necessary.</a:t>
            </a:r>
          </a:p>
          <a:p>
            <a:pPr algn="l" marL="647702" indent="-323851" lvl="1">
              <a:lnSpc>
                <a:spcPts val="60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 a volumetric sample, slice by slice contouring by a person takes time.</a:t>
            </a:r>
          </a:p>
          <a:p>
            <a:pPr algn="l" marL="647702" indent="-323851" lvl="1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Classical methods of detection are faster and efficient.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10233" y="10132980"/>
            <a:ext cx="13861398" cy="154020"/>
          </a:xfrm>
          <a:custGeom>
            <a:avLst/>
            <a:gdLst/>
            <a:ahLst/>
            <a:cxnLst/>
            <a:rect r="r" b="b" t="t" l="l"/>
            <a:pathLst>
              <a:path h="154020" w="13861398">
                <a:moveTo>
                  <a:pt x="0" y="0"/>
                </a:moveTo>
                <a:lnTo>
                  <a:pt x="13861398" y="0"/>
                </a:lnTo>
                <a:lnTo>
                  <a:pt x="13861398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542469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0" y="10132980"/>
            <a:ext cx="18481864" cy="154020"/>
            <a:chOff x="0" y="0"/>
            <a:chExt cx="16256000" cy="1354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135509"/>
            </a:xfrm>
            <a:custGeom>
              <a:avLst/>
              <a:gdLst/>
              <a:ahLst/>
              <a:cxnLst/>
              <a:rect r="r" b="b" t="t" l="l"/>
              <a:pathLst>
                <a:path h="135509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135509"/>
                  </a:lnTo>
                  <a:lnTo>
                    <a:pt x="0" y="135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28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43930" y="9045394"/>
            <a:ext cx="2070431" cy="908008"/>
          </a:xfrm>
          <a:custGeom>
            <a:avLst/>
            <a:gdLst/>
            <a:ahLst/>
            <a:cxnLst/>
            <a:rect r="r" b="b" t="t" l="l"/>
            <a:pathLst>
              <a:path h="908008" w="2070431">
                <a:moveTo>
                  <a:pt x="0" y="0"/>
                </a:moveTo>
                <a:lnTo>
                  <a:pt x="2070431" y="0"/>
                </a:lnTo>
                <a:lnTo>
                  <a:pt x="2070431" y="908008"/>
                </a:lnTo>
                <a:lnTo>
                  <a:pt x="0" y="9080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543930" y="9045394"/>
            <a:ext cx="2070431" cy="944640"/>
            <a:chOff x="0" y="0"/>
            <a:chExt cx="1821078" cy="8308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1053" cy="830923"/>
            </a:xfrm>
            <a:custGeom>
              <a:avLst/>
              <a:gdLst/>
              <a:ahLst/>
              <a:cxnLst/>
              <a:rect r="r" b="b" t="t" l="l"/>
              <a:pathLst>
                <a:path h="830923" w="1821053">
                  <a:moveTo>
                    <a:pt x="0" y="0"/>
                  </a:moveTo>
                  <a:lnTo>
                    <a:pt x="1821053" y="0"/>
                  </a:lnTo>
                  <a:lnTo>
                    <a:pt x="1821053" y="830923"/>
                  </a:lnTo>
                  <a:lnTo>
                    <a:pt x="0" y="830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72565" t="-156165" r="-72141" b="-156511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757565" y="895350"/>
            <a:ext cx="6772870" cy="1038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7D1916"/>
                </a:solidFill>
                <a:latin typeface="Arial Bold"/>
                <a:ea typeface="Arial Bold"/>
                <a:cs typeface="Arial Bold"/>
                <a:sym typeface="Arial Bold"/>
              </a:rPr>
              <a:t>Problem Definition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654591" y="3524251"/>
            <a:ext cx="12978817" cy="29908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3" indent="-323852" lvl="1">
              <a:lnSpc>
                <a:spcPts val="60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Segment the Whole Tumor (WT) from MRI data.</a:t>
            </a:r>
          </a:p>
          <a:p>
            <a:pPr algn="l" marL="647703" indent="-323852" lvl="1">
              <a:lnSpc>
                <a:spcPts val="60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 classical image processing techniques instead of ML/DL.</a:t>
            </a:r>
          </a:p>
          <a:p>
            <a:pPr algn="l" marL="647703" indent="-323852" lvl="1">
              <a:lnSpc>
                <a:spcPts val="60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Create a binary mask of the tumor.</a:t>
            </a:r>
          </a:p>
          <a:p>
            <a:pPr algn="l" marL="647703" indent="-323852" lvl="1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Compare the predicted masks with ground truth masks from BraTS2020.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10233" y="10132980"/>
            <a:ext cx="13861398" cy="154020"/>
          </a:xfrm>
          <a:custGeom>
            <a:avLst/>
            <a:gdLst/>
            <a:ahLst/>
            <a:cxnLst/>
            <a:rect r="r" b="b" t="t" l="l"/>
            <a:pathLst>
              <a:path h="154020" w="13861398">
                <a:moveTo>
                  <a:pt x="0" y="0"/>
                </a:moveTo>
                <a:lnTo>
                  <a:pt x="13861398" y="0"/>
                </a:lnTo>
                <a:lnTo>
                  <a:pt x="13861398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542469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0" y="10132980"/>
            <a:ext cx="18481864" cy="154020"/>
            <a:chOff x="0" y="0"/>
            <a:chExt cx="16256000" cy="1354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135509"/>
            </a:xfrm>
            <a:custGeom>
              <a:avLst/>
              <a:gdLst/>
              <a:ahLst/>
              <a:cxnLst/>
              <a:rect r="r" b="b" t="t" l="l"/>
              <a:pathLst>
                <a:path h="135509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135509"/>
                  </a:lnTo>
                  <a:lnTo>
                    <a:pt x="0" y="135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28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43930" y="9045394"/>
            <a:ext cx="2070431" cy="908008"/>
          </a:xfrm>
          <a:custGeom>
            <a:avLst/>
            <a:gdLst/>
            <a:ahLst/>
            <a:cxnLst/>
            <a:rect r="r" b="b" t="t" l="l"/>
            <a:pathLst>
              <a:path h="908008" w="2070431">
                <a:moveTo>
                  <a:pt x="0" y="0"/>
                </a:moveTo>
                <a:lnTo>
                  <a:pt x="2070431" y="0"/>
                </a:lnTo>
                <a:lnTo>
                  <a:pt x="2070431" y="908008"/>
                </a:lnTo>
                <a:lnTo>
                  <a:pt x="0" y="9080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543930" y="9045394"/>
            <a:ext cx="2070431" cy="944640"/>
            <a:chOff x="0" y="0"/>
            <a:chExt cx="1821078" cy="8308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1053" cy="830923"/>
            </a:xfrm>
            <a:custGeom>
              <a:avLst/>
              <a:gdLst/>
              <a:ahLst/>
              <a:cxnLst/>
              <a:rect r="r" b="b" t="t" l="l"/>
              <a:pathLst>
                <a:path h="830923" w="1821053">
                  <a:moveTo>
                    <a:pt x="0" y="0"/>
                  </a:moveTo>
                  <a:lnTo>
                    <a:pt x="1821053" y="0"/>
                  </a:lnTo>
                  <a:lnTo>
                    <a:pt x="1821053" y="830923"/>
                  </a:lnTo>
                  <a:lnTo>
                    <a:pt x="0" y="830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72565" t="-156165" r="-72141" b="-156511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854122" y="885825"/>
            <a:ext cx="12773620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b="true" sz="6000">
                <a:solidFill>
                  <a:srgbClr val="7D1916"/>
                </a:solidFill>
                <a:latin typeface="Arial Bold"/>
                <a:ea typeface="Arial Bold"/>
                <a:cs typeface="Arial Bold"/>
                <a:sym typeface="Arial Bold"/>
              </a:rPr>
              <a:t>Literature Review ( Existing  Work )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32300" y="3108234"/>
            <a:ext cx="13617264" cy="47053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AutoNum type="arabicPeriod" startAt="1"/>
            </a:pPr>
            <a:r>
              <a:rPr lang="en-US" b="true" sz="29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Hyb</a:t>
            </a:r>
            <a:r>
              <a:rPr lang="en-US" b="true" sz="29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ridized Multilevel Thresholding + Level Set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Dawngliana et al., 2015</a:t>
            </a: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AutoNum type="arabicPeriod" startAt="1"/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b="true" sz="29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hresholding + Morphological Operations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</a:t>
            </a: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Murthy &amp; Sadashivappa, 2014</a:t>
            </a: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AutoNum type="arabicPeriod" startAt="1"/>
            </a:pPr>
            <a:r>
              <a:rPr lang="en-US" b="true" sz="29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Integrated Thresholding + Morphological Processing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      </a:t>
            </a: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Islam et al., 2018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Classical approaches have been shown to be effective for tumor segmentation in previous studies. 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10233" y="10132980"/>
            <a:ext cx="13861398" cy="154020"/>
          </a:xfrm>
          <a:custGeom>
            <a:avLst/>
            <a:gdLst/>
            <a:ahLst/>
            <a:cxnLst/>
            <a:rect r="r" b="b" t="t" l="l"/>
            <a:pathLst>
              <a:path h="154020" w="13861398">
                <a:moveTo>
                  <a:pt x="0" y="0"/>
                </a:moveTo>
                <a:lnTo>
                  <a:pt x="13861398" y="0"/>
                </a:lnTo>
                <a:lnTo>
                  <a:pt x="13861398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542469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0" y="10132980"/>
            <a:ext cx="18481864" cy="154020"/>
            <a:chOff x="0" y="0"/>
            <a:chExt cx="16256000" cy="1354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135509"/>
            </a:xfrm>
            <a:custGeom>
              <a:avLst/>
              <a:gdLst/>
              <a:ahLst/>
              <a:cxnLst/>
              <a:rect r="r" b="b" t="t" l="l"/>
              <a:pathLst>
                <a:path h="135509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135509"/>
                  </a:lnTo>
                  <a:lnTo>
                    <a:pt x="0" y="135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28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43930" y="9045394"/>
            <a:ext cx="2070431" cy="908008"/>
          </a:xfrm>
          <a:custGeom>
            <a:avLst/>
            <a:gdLst/>
            <a:ahLst/>
            <a:cxnLst/>
            <a:rect r="r" b="b" t="t" l="l"/>
            <a:pathLst>
              <a:path h="908008" w="2070431">
                <a:moveTo>
                  <a:pt x="0" y="0"/>
                </a:moveTo>
                <a:lnTo>
                  <a:pt x="2070431" y="0"/>
                </a:lnTo>
                <a:lnTo>
                  <a:pt x="2070431" y="908008"/>
                </a:lnTo>
                <a:lnTo>
                  <a:pt x="0" y="9080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543930" y="9045394"/>
            <a:ext cx="2070431" cy="944640"/>
            <a:chOff x="0" y="0"/>
            <a:chExt cx="1821078" cy="8308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1053" cy="830923"/>
            </a:xfrm>
            <a:custGeom>
              <a:avLst/>
              <a:gdLst/>
              <a:ahLst/>
              <a:cxnLst/>
              <a:rect r="r" b="b" t="t" l="l"/>
              <a:pathLst>
                <a:path h="830923" w="1821053">
                  <a:moveTo>
                    <a:pt x="0" y="0"/>
                  </a:moveTo>
                  <a:lnTo>
                    <a:pt x="1821053" y="0"/>
                  </a:lnTo>
                  <a:lnTo>
                    <a:pt x="1821053" y="830923"/>
                  </a:lnTo>
                  <a:lnTo>
                    <a:pt x="0" y="830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72565" t="-156165" r="-72141" b="-156511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543930" y="3096724"/>
            <a:ext cx="17224333" cy="3520223"/>
          </a:xfrm>
          <a:custGeom>
            <a:avLst/>
            <a:gdLst/>
            <a:ahLst/>
            <a:cxnLst/>
            <a:rect r="r" b="b" t="t" l="l"/>
            <a:pathLst>
              <a:path h="3520223" w="17224333">
                <a:moveTo>
                  <a:pt x="0" y="0"/>
                </a:moveTo>
                <a:lnTo>
                  <a:pt x="17224333" y="0"/>
                </a:lnTo>
                <a:lnTo>
                  <a:pt x="17224333" y="3520223"/>
                </a:lnTo>
                <a:lnTo>
                  <a:pt x="0" y="352022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761071" y="895350"/>
            <a:ext cx="8765857" cy="10382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7D1916"/>
                </a:solidFill>
                <a:latin typeface="Arial Bold"/>
                <a:ea typeface="Arial Bold"/>
                <a:cs typeface="Arial Bold"/>
                <a:sym typeface="Arial Bold"/>
              </a:rPr>
              <a:t>Results: Visual Analysis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192814" y="6816546"/>
            <a:ext cx="12978817" cy="29908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3" indent="-323852" lvl="1">
              <a:lnSpc>
                <a:spcPts val="60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FLAIR → Highlights Tumor Edema and suppresses CSF signals</a:t>
            </a:r>
          </a:p>
          <a:p>
            <a:pPr algn="l" marL="647703" indent="-323852" lvl="1">
              <a:lnSpc>
                <a:spcPts val="60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T2 → Free Fluid and Edema Highlighted</a:t>
            </a:r>
          </a:p>
          <a:p>
            <a:pPr algn="l" marL="647703" indent="-323852" lvl="1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T1ce → Tumor (ET) core appears bright because of Paramagnetic contrast agent (Gadolinium)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10233" y="10132980"/>
            <a:ext cx="13861398" cy="154020"/>
          </a:xfrm>
          <a:custGeom>
            <a:avLst/>
            <a:gdLst/>
            <a:ahLst/>
            <a:cxnLst/>
            <a:rect r="r" b="b" t="t" l="l"/>
            <a:pathLst>
              <a:path h="154020" w="13861398">
                <a:moveTo>
                  <a:pt x="0" y="0"/>
                </a:moveTo>
                <a:lnTo>
                  <a:pt x="13861398" y="0"/>
                </a:lnTo>
                <a:lnTo>
                  <a:pt x="13861398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542469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0" y="10132980"/>
            <a:ext cx="18481864" cy="154020"/>
            <a:chOff x="0" y="0"/>
            <a:chExt cx="16256000" cy="1354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135509"/>
            </a:xfrm>
            <a:custGeom>
              <a:avLst/>
              <a:gdLst/>
              <a:ahLst/>
              <a:cxnLst/>
              <a:rect r="r" b="b" t="t" l="l"/>
              <a:pathLst>
                <a:path h="135509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135509"/>
                  </a:lnTo>
                  <a:lnTo>
                    <a:pt x="0" y="135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28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43930" y="9045394"/>
            <a:ext cx="2070431" cy="908008"/>
          </a:xfrm>
          <a:custGeom>
            <a:avLst/>
            <a:gdLst/>
            <a:ahLst/>
            <a:cxnLst/>
            <a:rect r="r" b="b" t="t" l="l"/>
            <a:pathLst>
              <a:path h="908008" w="2070431">
                <a:moveTo>
                  <a:pt x="0" y="0"/>
                </a:moveTo>
                <a:lnTo>
                  <a:pt x="2070431" y="0"/>
                </a:lnTo>
                <a:lnTo>
                  <a:pt x="2070431" y="908008"/>
                </a:lnTo>
                <a:lnTo>
                  <a:pt x="0" y="9080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543930" y="9045394"/>
            <a:ext cx="2070431" cy="944640"/>
            <a:chOff x="0" y="0"/>
            <a:chExt cx="1821078" cy="8308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1053" cy="830923"/>
            </a:xfrm>
            <a:custGeom>
              <a:avLst/>
              <a:gdLst/>
              <a:ahLst/>
              <a:cxnLst/>
              <a:rect r="r" b="b" t="t" l="l"/>
              <a:pathLst>
                <a:path h="830923" w="1821053">
                  <a:moveTo>
                    <a:pt x="0" y="0"/>
                  </a:moveTo>
                  <a:lnTo>
                    <a:pt x="1821053" y="0"/>
                  </a:lnTo>
                  <a:lnTo>
                    <a:pt x="1821053" y="830923"/>
                  </a:lnTo>
                  <a:lnTo>
                    <a:pt x="0" y="830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72565" t="-156165" r="-72141" b="-156511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11833269" y="7180799"/>
            <a:ext cx="2342301" cy="1864595"/>
          </a:xfrm>
          <a:custGeom>
            <a:avLst/>
            <a:gdLst/>
            <a:ahLst/>
            <a:cxnLst/>
            <a:rect r="r" b="b" t="t" l="l"/>
            <a:pathLst>
              <a:path h="1864595" w="2342301">
                <a:moveTo>
                  <a:pt x="0" y="0"/>
                </a:moveTo>
                <a:lnTo>
                  <a:pt x="2342301" y="0"/>
                </a:lnTo>
                <a:lnTo>
                  <a:pt x="2342301" y="1864595"/>
                </a:lnTo>
                <a:lnTo>
                  <a:pt x="0" y="186459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8232967" y="2965696"/>
            <a:ext cx="9542904" cy="3978198"/>
          </a:xfrm>
          <a:custGeom>
            <a:avLst/>
            <a:gdLst/>
            <a:ahLst/>
            <a:cxnLst/>
            <a:rect r="r" b="b" t="t" l="l"/>
            <a:pathLst>
              <a:path h="3978198" w="9542904">
                <a:moveTo>
                  <a:pt x="0" y="0"/>
                </a:moveTo>
                <a:lnTo>
                  <a:pt x="9542904" y="0"/>
                </a:lnTo>
                <a:lnTo>
                  <a:pt x="9542904" y="3978198"/>
                </a:lnTo>
                <a:lnTo>
                  <a:pt x="0" y="397819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6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333583" y="895350"/>
            <a:ext cx="7620834" cy="10382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7D1916"/>
                </a:solidFill>
                <a:latin typeface="Arial Bold"/>
                <a:ea typeface="Arial Bold"/>
                <a:cs typeface="Arial Bold"/>
                <a:sym typeface="Arial Bold"/>
              </a:rPr>
              <a:t>Results: Quantitative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28700" y="3312497"/>
            <a:ext cx="6341745" cy="4800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Key Res</a:t>
            </a: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ults</a:t>
            </a:r>
          </a:p>
          <a:p>
            <a:pPr algn="l" marL="647702" indent="-323851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Dice: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0.665 ± 0.179</a:t>
            </a:r>
          </a:p>
          <a:p>
            <a:pPr algn="l" marL="647702" indent="-323851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IoU: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0.521 ± 0.183</a:t>
            </a:r>
          </a:p>
          <a:p>
            <a:pPr algn="l" marL="647702" indent="-323851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Precision: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0.787 ± 0.179</a:t>
            </a:r>
          </a:p>
          <a:p>
            <a:pPr algn="l" marL="647702" indent="-323851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Recall: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0.600 ± 0.211</a:t>
            </a:r>
          </a:p>
          <a:p>
            <a:pPr algn="l" marL="647702" indent="-323851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30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Pooled Dice: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0.733</a:t>
            </a:r>
          </a:p>
          <a:p>
            <a:pPr algn="l" marL="647702" indent="-323851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Dice ≥ 0.50 → 16/20 cases (80%)</a:t>
            </a:r>
          </a:p>
          <a:p>
            <a:pPr algn="l" marL="647702" indent="-323851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Dice ≥ 0.70 → 11/20 cases (55%)</a:t>
            </a:r>
          </a:p>
          <a:p>
            <a:pPr algn="l">
              <a:lnSpc>
                <a:spcPts val="4200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10233" y="10132980"/>
            <a:ext cx="13861398" cy="154020"/>
          </a:xfrm>
          <a:custGeom>
            <a:avLst/>
            <a:gdLst/>
            <a:ahLst/>
            <a:cxnLst/>
            <a:rect r="r" b="b" t="t" l="l"/>
            <a:pathLst>
              <a:path h="154020" w="13861398">
                <a:moveTo>
                  <a:pt x="0" y="0"/>
                </a:moveTo>
                <a:lnTo>
                  <a:pt x="13861398" y="0"/>
                </a:lnTo>
                <a:lnTo>
                  <a:pt x="13861398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542469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0" y="10132980"/>
            <a:ext cx="18481864" cy="154020"/>
            <a:chOff x="0" y="0"/>
            <a:chExt cx="16256000" cy="1354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135509"/>
            </a:xfrm>
            <a:custGeom>
              <a:avLst/>
              <a:gdLst/>
              <a:ahLst/>
              <a:cxnLst/>
              <a:rect r="r" b="b" t="t" l="l"/>
              <a:pathLst>
                <a:path h="135509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135509"/>
                  </a:lnTo>
                  <a:lnTo>
                    <a:pt x="0" y="135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28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43930" y="9045394"/>
            <a:ext cx="2070431" cy="908008"/>
          </a:xfrm>
          <a:custGeom>
            <a:avLst/>
            <a:gdLst/>
            <a:ahLst/>
            <a:cxnLst/>
            <a:rect r="r" b="b" t="t" l="l"/>
            <a:pathLst>
              <a:path h="908008" w="2070431">
                <a:moveTo>
                  <a:pt x="0" y="0"/>
                </a:moveTo>
                <a:lnTo>
                  <a:pt x="2070431" y="0"/>
                </a:lnTo>
                <a:lnTo>
                  <a:pt x="2070431" y="908008"/>
                </a:lnTo>
                <a:lnTo>
                  <a:pt x="0" y="9080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543930" y="9045394"/>
            <a:ext cx="2070431" cy="944640"/>
            <a:chOff x="0" y="0"/>
            <a:chExt cx="1821078" cy="8308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1053" cy="830923"/>
            </a:xfrm>
            <a:custGeom>
              <a:avLst/>
              <a:gdLst/>
              <a:ahLst/>
              <a:cxnLst/>
              <a:rect r="r" b="b" t="t" l="l"/>
              <a:pathLst>
                <a:path h="830923" w="1821053">
                  <a:moveTo>
                    <a:pt x="0" y="0"/>
                  </a:moveTo>
                  <a:lnTo>
                    <a:pt x="1821053" y="0"/>
                  </a:lnTo>
                  <a:lnTo>
                    <a:pt x="1821053" y="830923"/>
                  </a:lnTo>
                  <a:lnTo>
                    <a:pt x="0" y="830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72565" t="-156165" r="-72141" b="-156511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876032" y="895350"/>
            <a:ext cx="6535936" cy="10382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7D1916"/>
                </a:solidFill>
                <a:latin typeface="Arial Bold"/>
                <a:ea typeface="Arial Bold"/>
                <a:cs typeface="Arial Bold"/>
                <a:sym typeface="Arial Bold"/>
              </a:rPr>
              <a:t>Pipeline Accuracy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3111319"/>
            <a:ext cx="8952027" cy="57531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29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Key Observati</a:t>
            </a:r>
            <a:r>
              <a:rPr lang="en-US" b="true" sz="29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ons</a:t>
            </a: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Predicted tumor regions generally match the reference region</a:t>
            </a: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Under-segmentation is the main limitation</a:t>
            </a: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Mean Precision: 0.787</a:t>
            </a: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Mean Recall: 0.600</a:t>
            </a: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9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13 cases</a:t>
            </a: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under-segmentation</a:t>
            </a: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9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3 cases</a:t>
            </a: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mixed boundary errors</a:t>
            </a: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9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 cases</a:t>
            </a: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over-segmentation</a:t>
            </a: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29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2 cases</a:t>
            </a: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excellent overlap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9599670" y="2564958"/>
            <a:ext cx="6912497" cy="6912497"/>
          </a:xfrm>
          <a:custGeom>
            <a:avLst/>
            <a:gdLst/>
            <a:ahLst/>
            <a:cxnLst/>
            <a:rect r="r" b="b" t="t" l="l"/>
            <a:pathLst>
              <a:path h="6912497" w="6912497">
                <a:moveTo>
                  <a:pt x="0" y="0"/>
                </a:moveTo>
                <a:lnTo>
                  <a:pt x="6912497" y="0"/>
                </a:lnTo>
                <a:lnTo>
                  <a:pt x="6912497" y="6912497"/>
                </a:lnTo>
                <a:lnTo>
                  <a:pt x="0" y="691249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10233" y="10132980"/>
            <a:ext cx="13861398" cy="154020"/>
          </a:xfrm>
          <a:custGeom>
            <a:avLst/>
            <a:gdLst/>
            <a:ahLst/>
            <a:cxnLst/>
            <a:rect r="r" b="b" t="t" l="l"/>
            <a:pathLst>
              <a:path h="154020" w="13861398">
                <a:moveTo>
                  <a:pt x="0" y="0"/>
                </a:moveTo>
                <a:lnTo>
                  <a:pt x="13861398" y="0"/>
                </a:lnTo>
                <a:lnTo>
                  <a:pt x="13861398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542469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0" y="10132980"/>
            <a:ext cx="18481864" cy="154020"/>
            <a:chOff x="0" y="0"/>
            <a:chExt cx="16256000" cy="1354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135509"/>
            </a:xfrm>
            <a:custGeom>
              <a:avLst/>
              <a:gdLst/>
              <a:ahLst/>
              <a:cxnLst/>
              <a:rect r="r" b="b" t="t" l="l"/>
              <a:pathLst>
                <a:path h="135509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135509"/>
                  </a:lnTo>
                  <a:lnTo>
                    <a:pt x="0" y="135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28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43930" y="9045394"/>
            <a:ext cx="2070431" cy="908008"/>
          </a:xfrm>
          <a:custGeom>
            <a:avLst/>
            <a:gdLst/>
            <a:ahLst/>
            <a:cxnLst/>
            <a:rect r="r" b="b" t="t" l="l"/>
            <a:pathLst>
              <a:path h="908008" w="2070431">
                <a:moveTo>
                  <a:pt x="0" y="0"/>
                </a:moveTo>
                <a:lnTo>
                  <a:pt x="2070431" y="0"/>
                </a:lnTo>
                <a:lnTo>
                  <a:pt x="2070431" y="908008"/>
                </a:lnTo>
                <a:lnTo>
                  <a:pt x="0" y="9080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543930" y="9045394"/>
            <a:ext cx="2070431" cy="944640"/>
            <a:chOff x="0" y="0"/>
            <a:chExt cx="1821078" cy="8308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1053" cy="830923"/>
            </a:xfrm>
            <a:custGeom>
              <a:avLst/>
              <a:gdLst/>
              <a:ahLst/>
              <a:cxnLst/>
              <a:rect r="r" b="b" t="t" l="l"/>
              <a:pathLst>
                <a:path h="830923" w="1821053">
                  <a:moveTo>
                    <a:pt x="0" y="0"/>
                  </a:moveTo>
                  <a:lnTo>
                    <a:pt x="1821053" y="0"/>
                  </a:lnTo>
                  <a:lnTo>
                    <a:pt x="1821053" y="830923"/>
                  </a:lnTo>
                  <a:lnTo>
                    <a:pt x="0" y="830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72565" t="-156165" r="-72141" b="-156511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7407890" y="895350"/>
            <a:ext cx="3472220" cy="10382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7D1916"/>
                </a:solidFill>
                <a:latin typeface="Arial Bold"/>
                <a:ea typeface="Arial Bold"/>
                <a:cs typeface="Arial Bold"/>
                <a:sym typeface="Arial Bold"/>
              </a:rPr>
              <a:t>Next Plan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896618" y="3238500"/>
            <a:ext cx="10494764" cy="3733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Next Phase</a:t>
            </a:r>
          </a:p>
          <a:p>
            <a:pPr algn="l" marL="647700" indent="-323850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Improve v</a:t>
            </a: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oxel selection</a:t>
            </a:r>
          </a:p>
          <a:p>
            <a:pPr algn="l" marL="647700" indent="-323850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Reduce under-segmentation</a:t>
            </a:r>
          </a:p>
          <a:p>
            <a:pPr algn="l" marL="647700" indent="-323850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Improve boundary accuracy</a:t>
            </a:r>
          </a:p>
          <a:p>
            <a:pPr algn="l" marL="647700" indent="-323850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Optimize the current segmentation pipeline</a:t>
            </a:r>
          </a:p>
          <a:p>
            <a:pPr algn="l" marL="647700" indent="-323850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Explore more suitable segmentation methods</a:t>
            </a:r>
          </a:p>
          <a:p>
            <a:pPr algn="l" marL="647700" indent="-323850" lvl="1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Evaluate improvements using the same metrics and cases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310233" y="10132980"/>
            <a:ext cx="13861398" cy="154020"/>
          </a:xfrm>
          <a:custGeom>
            <a:avLst/>
            <a:gdLst/>
            <a:ahLst/>
            <a:cxnLst/>
            <a:rect r="r" b="b" t="t" l="l"/>
            <a:pathLst>
              <a:path h="154020" w="13861398">
                <a:moveTo>
                  <a:pt x="0" y="0"/>
                </a:moveTo>
                <a:lnTo>
                  <a:pt x="13861398" y="0"/>
                </a:lnTo>
                <a:lnTo>
                  <a:pt x="13861398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542469" y="10132980"/>
            <a:ext cx="3939395" cy="154020"/>
          </a:xfrm>
          <a:custGeom>
            <a:avLst/>
            <a:gdLst/>
            <a:ahLst/>
            <a:cxnLst/>
            <a:rect r="r" b="b" t="t" l="l"/>
            <a:pathLst>
              <a:path h="154020" w="3939395">
                <a:moveTo>
                  <a:pt x="0" y="0"/>
                </a:moveTo>
                <a:lnTo>
                  <a:pt x="3939395" y="0"/>
                </a:lnTo>
                <a:lnTo>
                  <a:pt x="3939395" y="154020"/>
                </a:lnTo>
                <a:lnTo>
                  <a:pt x="0" y="15402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0" y="10132980"/>
            <a:ext cx="18481864" cy="154020"/>
            <a:chOff x="0" y="0"/>
            <a:chExt cx="16256000" cy="13547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256000" cy="135509"/>
            </a:xfrm>
            <a:custGeom>
              <a:avLst/>
              <a:gdLst/>
              <a:ahLst/>
              <a:cxnLst/>
              <a:rect r="r" b="b" t="t" l="l"/>
              <a:pathLst>
                <a:path h="135509" w="16256000">
                  <a:moveTo>
                    <a:pt x="0" y="0"/>
                  </a:moveTo>
                  <a:lnTo>
                    <a:pt x="16256000" y="0"/>
                  </a:lnTo>
                  <a:lnTo>
                    <a:pt x="16256000" y="135509"/>
                  </a:lnTo>
                  <a:lnTo>
                    <a:pt x="0" y="1355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28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543930" y="9045394"/>
            <a:ext cx="2070431" cy="908008"/>
          </a:xfrm>
          <a:custGeom>
            <a:avLst/>
            <a:gdLst/>
            <a:ahLst/>
            <a:cxnLst/>
            <a:rect r="r" b="b" t="t" l="l"/>
            <a:pathLst>
              <a:path h="908008" w="2070431">
                <a:moveTo>
                  <a:pt x="0" y="0"/>
                </a:moveTo>
                <a:lnTo>
                  <a:pt x="2070431" y="0"/>
                </a:lnTo>
                <a:lnTo>
                  <a:pt x="2070431" y="908008"/>
                </a:lnTo>
                <a:lnTo>
                  <a:pt x="0" y="90800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543930" y="9045394"/>
            <a:ext cx="2070431" cy="944640"/>
            <a:chOff x="0" y="0"/>
            <a:chExt cx="1821078" cy="8308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1053" cy="830923"/>
            </a:xfrm>
            <a:custGeom>
              <a:avLst/>
              <a:gdLst/>
              <a:ahLst/>
              <a:cxnLst/>
              <a:rect r="r" b="b" t="t" l="l"/>
              <a:pathLst>
                <a:path h="830923" w="1821053">
                  <a:moveTo>
                    <a:pt x="0" y="0"/>
                  </a:moveTo>
                  <a:lnTo>
                    <a:pt x="1821053" y="0"/>
                  </a:lnTo>
                  <a:lnTo>
                    <a:pt x="1821053" y="830923"/>
                  </a:lnTo>
                  <a:lnTo>
                    <a:pt x="0" y="8309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72565" t="-156165" r="-72141" b="-156511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975145" y="895350"/>
            <a:ext cx="8337709" cy="10382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  <a:spcBef>
                <a:spcPct val="0"/>
              </a:spcBef>
            </a:pPr>
            <a:r>
              <a:rPr lang="en-US" b="true" sz="5999">
                <a:solidFill>
                  <a:srgbClr val="7D1916"/>
                </a:solidFill>
                <a:latin typeface="Arial Bold"/>
                <a:ea typeface="Arial Bold"/>
                <a:cs typeface="Arial Bold"/>
                <a:sym typeface="Arial Bold"/>
              </a:rPr>
              <a:t>Individual Contribution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122125" y="2337578"/>
            <a:ext cx="12043750" cy="7324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Abdulwahab Shaikh (Leader + POC)</a:t>
            </a:r>
          </a:p>
          <a:p>
            <a:pPr algn="l" marL="647695" indent="-323848" lvl="1">
              <a:lnSpc>
                <a:spcPts val="41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Overall Architecture Design and Code Implementation</a:t>
            </a:r>
          </a:p>
          <a:p>
            <a:pPr algn="l">
              <a:lnSpc>
                <a:spcPts val="4199"/>
              </a:lnSpc>
            </a:pPr>
          </a:p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Yash Kyada</a:t>
            </a:r>
          </a:p>
          <a:p>
            <a:pPr algn="l" marL="647695" indent="-323848" lvl="1">
              <a:lnSpc>
                <a:spcPts val="4199"/>
              </a:lnSpc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Mathematical and Morphological Analysis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29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Srujan Yendugula</a:t>
            </a: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Preprocessing Phase Design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2999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Harshraj Solanki</a:t>
            </a:r>
          </a:p>
          <a:p>
            <a:pPr algn="l" marL="647695" indent="-323848" lvl="1">
              <a:lnSpc>
                <a:spcPts val="4199"/>
              </a:lnSpc>
              <a:spcBef>
                <a:spcPct val="0"/>
              </a:spcBef>
              <a:buFont typeface="Arial"/>
              <a:buChar char="•"/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Segmentation Method Research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Literature Review and Documentation was a combined effort of the whole group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DAHGRkSfDTA</dc:identifier>
  <dcterms:modified xsi:type="dcterms:W3CDTF">2011-08-01T06:04:30Z</dcterms:modified>
  <cp:revision>1</cp:revision>
  <dc:title>G18_P20</dc:title>
</cp:coreProperties>
</file>