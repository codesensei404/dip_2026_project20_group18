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8288000" cy="10287000"/>
  <p:notesSz cx="6858000" cy="9144000"/>
  <p:embeddedFontLst>
    <p:embeddedFont>
      <p:font typeface="Arial Bold" panose="020B0704020202020204" pitchFamily="34" charset="0"/>
      <p:bold r:id="rId12"/>
    </p:embeddedFont>
    <p:embeddedFont>
      <p:font typeface="IBM Plex Sans 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awsaf49/brats2020-training-data" TargetMode="External"/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01B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64401" y="1109546"/>
            <a:ext cx="6159198" cy="2021581"/>
          </a:xfrm>
          <a:custGeom>
            <a:avLst/>
            <a:gdLst/>
            <a:ahLst/>
            <a:cxnLst/>
            <a:rect l="l" t="t" r="r" b="b"/>
            <a:pathLst>
              <a:path w="6159198" h="2021581">
                <a:moveTo>
                  <a:pt x="0" y="0"/>
                </a:moveTo>
                <a:lnTo>
                  <a:pt x="6159198" y="0"/>
                </a:lnTo>
                <a:lnTo>
                  <a:pt x="6159198" y="2021581"/>
                </a:lnTo>
                <a:lnTo>
                  <a:pt x="0" y="2021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6064401" y="781422"/>
            <a:ext cx="6159198" cy="2021581"/>
            <a:chOff x="0" y="0"/>
            <a:chExt cx="5474843" cy="17969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74843" cy="1796923"/>
            </a:xfrm>
            <a:custGeom>
              <a:avLst/>
              <a:gdLst/>
              <a:ahLst/>
              <a:cxnLst/>
              <a:rect l="l" t="t" r="r" b="b"/>
              <a:pathLst>
                <a:path w="5474843" h="1796923">
                  <a:moveTo>
                    <a:pt x="0" y="0"/>
                  </a:moveTo>
                  <a:lnTo>
                    <a:pt x="5474843" y="0"/>
                  </a:lnTo>
                  <a:lnTo>
                    <a:pt x="5474843" y="1796923"/>
                  </a:lnTo>
                  <a:lnTo>
                    <a:pt x="0" y="1796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392288" y="7025617"/>
            <a:ext cx="5831562" cy="71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</a:pPr>
            <a:r>
              <a:rPr lang="en-US" sz="4199" b="1" spc="37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Group  18  -  Project 20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51185" y="3807906"/>
            <a:ext cx="14985630" cy="18821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400" b="1" spc="48" dirty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Classical Image Processing for Brain Tumor Segmentation in MRI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10031233" y="6372080"/>
          <a:ext cx="6222140" cy="3467100"/>
        </p:xfrm>
        <a:graphic>
          <a:graphicData uri="http://schemas.openxmlformats.org/drawingml/2006/table">
            <a:tbl>
              <a:tblPr/>
              <a:tblGrid>
                <a:gridCol w="3116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5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677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2F1E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Abdulwahab Shaikh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2F1E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AU2440099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2F1E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Yash Kyada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2F1E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AU2340218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2F1E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Srujan Yendugula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2F1E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AU2440158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6775"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2F1E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Harshraj Solanki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1">
                          <a:solidFill>
                            <a:srgbClr val="F2F1EE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AU2440218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9"/>
          <p:cNvSpPr txBox="1"/>
          <p:nvPr/>
        </p:nvSpPr>
        <p:spPr>
          <a:xfrm>
            <a:off x="2781206" y="8232458"/>
            <a:ext cx="5053727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31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Professor - Mehul Raval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35468" y="8741219"/>
            <a:ext cx="4745201" cy="606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 spc="31" dirty="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TA - Sagar Chavda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239179" y="885825"/>
            <a:ext cx="380964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Motivation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23226" y="3905250"/>
            <a:ext cx="13235412" cy="2228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Brain Tumors are life threatening so their detection is necessary.</a:t>
            </a:r>
          </a:p>
          <a:p>
            <a:pPr marL="647702" lvl="1" indent="-323851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 volumetric sample, slice by slice contouring by a person takes time.</a:t>
            </a:r>
          </a:p>
          <a:p>
            <a:pPr marL="647702" lvl="1" indent="-323851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Classical methods of detection are faster and efficient.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57565" y="895350"/>
            <a:ext cx="6772870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Problem Definition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54591" y="3524251"/>
            <a:ext cx="12978817" cy="3742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l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Segment the Whole Tumor (WT) from MRI data.</a:t>
            </a:r>
          </a:p>
          <a:p>
            <a:pPr marL="647703" lvl="1" indent="-323852" algn="l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classical image processing technique of Thresholding instead of ML/DL.</a:t>
            </a:r>
          </a:p>
          <a:p>
            <a:pPr marL="647703" lvl="1" indent="-323852" algn="l">
              <a:lnSpc>
                <a:spcPts val="60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Create a binary mask of the tumor.</a:t>
            </a:r>
          </a:p>
          <a:p>
            <a:pPr marL="647703" lvl="1" indent="-323852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the predicted masks with ground truth masks from BraTS2020.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85245" y="883841"/>
            <a:ext cx="13317509" cy="983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Literature Review (References)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32300" y="3108234"/>
            <a:ext cx="13617264" cy="4800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1047" lvl="1" indent="-457200" algn="l">
              <a:lnSpc>
                <a:spcPts val="4199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Hybridized Multilevel Thresholding + Level Set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-US" sz="29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Dawngliana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et al., 2015</a:t>
            </a:r>
          </a:p>
          <a:p>
            <a:pPr marL="781047" lvl="1" indent="-457200" algn="l">
              <a:lnSpc>
                <a:spcPts val="4199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Thresholding + Morphological Operations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Murthy &amp; </a:t>
            </a:r>
            <a:r>
              <a:rPr lang="en-US" sz="2999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Sadashivappa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2014</a:t>
            </a:r>
          </a:p>
          <a:p>
            <a:pPr marL="781047" lvl="1" indent="-457200" algn="l">
              <a:lnSpc>
                <a:spcPts val="4199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Integrated Thresholding + Morphological Processing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     Islam et al., 2018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Classical approaches have been shown to be effective for tumor segmentation in previous studies.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543930" y="3096724"/>
            <a:ext cx="17224333" cy="3520223"/>
          </a:xfrm>
          <a:custGeom>
            <a:avLst/>
            <a:gdLst/>
            <a:ahLst/>
            <a:cxnLst/>
            <a:rect l="l" t="t" r="r" b="b"/>
            <a:pathLst>
              <a:path w="17224333" h="3520223">
                <a:moveTo>
                  <a:pt x="0" y="0"/>
                </a:moveTo>
                <a:lnTo>
                  <a:pt x="17224333" y="0"/>
                </a:lnTo>
                <a:lnTo>
                  <a:pt x="17224333" y="3520223"/>
                </a:lnTo>
                <a:lnTo>
                  <a:pt x="0" y="35202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56935" y="818895"/>
            <a:ext cx="10174129" cy="983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Results: Visual Analysis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192814" y="6816546"/>
            <a:ext cx="12978817" cy="2990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FLAIR → Highlights Tumor Edema and suppresses CSF signals</a:t>
            </a:r>
          </a:p>
          <a:p>
            <a:pPr marL="647703" lvl="1" indent="-323852" algn="l">
              <a:lnSpc>
                <a:spcPts val="60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T2 → Free Fluid and Edema Highlighted</a:t>
            </a:r>
          </a:p>
          <a:p>
            <a:pPr marL="647703" lvl="1" indent="-323852" algn="l">
              <a:lnSpc>
                <a:spcPts val="6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T1ce → Tumor (ET) core appears bright because of Paramagnetic contrast agent (Gadolinium)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833269" y="7180799"/>
            <a:ext cx="2342301" cy="1864595"/>
          </a:xfrm>
          <a:custGeom>
            <a:avLst/>
            <a:gdLst/>
            <a:ahLst/>
            <a:cxnLst/>
            <a:rect l="l" t="t" r="r" b="b"/>
            <a:pathLst>
              <a:path w="2342301" h="1864595">
                <a:moveTo>
                  <a:pt x="0" y="0"/>
                </a:moveTo>
                <a:lnTo>
                  <a:pt x="2342301" y="0"/>
                </a:lnTo>
                <a:lnTo>
                  <a:pt x="2342301" y="1864595"/>
                </a:lnTo>
                <a:lnTo>
                  <a:pt x="0" y="18645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>
          <a:xfrm>
            <a:off x="8232967" y="2965696"/>
            <a:ext cx="9542904" cy="3978198"/>
          </a:xfrm>
          <a:custGeom>
            <a:avLst/>
            <a:gdLst/>
            <a:ahLst/>
            <a:cxnLst/>
            <a:rect l="l" t="t" r="r" b="b"/>
            <a:pathLst>
              <a:path w="9542904" h="3978198">
                <a:moveTo>
                  <a:pt x="0" y="0"/>
                </a:moveTo>
                <a:lnTo>
                  <a:pt x="9542904" y="0"/>
                </a:lnTo>
                <a:lnTo>
                  <a:pt x="9542904" y="3978198"/>
                </a:lnTo>
                <a:lnTo>
                  <a:pt x="0" y="39781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6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33583" y="895350"/>
            <a:ext cx="7620834" cy="103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Results: Quantitative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312497"/>
            <a:ext cx="6341745" cy="5338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Results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Dice: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0.665 ± 0.179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IoU: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0.521 ± 0.183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Precision: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0.787 ± 0.179</a:t>
            </a:r>
          </a:p>
          <a:p>
            <a:pPr marL="647702" lvl="1" indent="-323851" algn="l">
              <a:lnSpc>
                <a:spcPct val="1000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Recall: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0.600 ± 0.211</a:t>
            </a:r>
          </a:p>
          <a:p>
            <a:pPr marL="647702" lvl="1" indent="-32385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ASSD: 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6.96 ± 5.03 (mm)</a:t>
            </a:r>
            <a:endParaRPr lang="en-US" sz="30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Pooled Dice:</a:t>
            </a: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0.733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Dice ≥ 0.50 → 16/20 cases (80%)</a:t>
            </a:r>
          </a:p>
          <a:p>
            <a:pPr marL="647702" lvl="1" indent="-323851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Dice ≥ 0.70 → 11/20 cases (55%)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67986" y="859669"/>
            <a:ext cx="8952027" cy="9830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Pipeline Accuracy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3111319"/>
            <a:ext cx="8952027" cy="5753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Key Observations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Predicted tumor regions generally match the reference region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Under-segmentation is the main limitation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Precision: 0.787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Mean Recall: 0.600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13 cases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under-segmentation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3 cases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mixed boundary errors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 cases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over-segmentation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 cases</a:t>
            </a: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excellent overlap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9599670" y="2476500"/>
            <a:ext cx="6912497" cy="6912497"/>
          </a:xfrm>
          <a:custGeom>
            <a:avLst/>
            <a:gdLst/>
            <a:ahLst/>
            <a:cxnLst/>
            <a:rect l="l" t="t" r="r" b="b"/>
            <a:pathLst>
              <a:path w="6912497" h="6912497">
                <a:moveTo>
                  <a:pt x="0" y="0"/>
                </a:moveTo>
                <a:lnTo>
                  <a:pt x="6912497" y="0"/>
                </a:lnTo>
                <a:lnTo>
                  <a:pt x="6912497" y="6912497"/>
                </a:lnTo>
                <a:lnTo>
                  <a:pt x="0" y="691249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07890" y="895350"/>
            <a:ext cx="3472220" cy="103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Next Plan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96618" y="3238500"/>
            <a:ext cx="10494764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Next Phase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voxel selection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under-segmentation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 boundary accuracy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Optimize the current segmentation pipeline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Explore more suitable segmentation methods</a:t>
            </a:r>
          </a:p>
          <a:p>
            <a:pPr marL="647700" lvl="1" indent="-323850" algn="l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improvements using the same metrics and cases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/>
          <p:nvPr/>
        </p:nvGrpSpPr>
        <p:grpSpPr>
          <a:xfrm>
            <a:off x="0" y="10132980"/>
            <a:ext cx="18481864" cy="154020"/>
            <a:chOff x="0" y="0"/>
            <a:chExt cx="16256000" cy="13547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975145" y="895350"/>
            <a:ext cx="8337709" cy="103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Individual Contribution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122125" y="2337578"/>
            <a:ext cx="12043750" cy="732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Abdulwahab Shaikh (Leader + POC)</a:t>
            </a: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Overall Architecture Design and Code Implementation</a:t>
            </a:r>
          </a:p>
          <a:p>
            <a:pPr algn="l">
              <a:lnSpc>
                <a:spcPts val="4199"/>
              </a:lnSpc>
            </a:pPr>
            <a:endParaRPr lang="en-US" sz="29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199"/>
              </a:lnSpc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Yash </a:t>
            </a:r>
            <a:r>
              <a:rPr lang="en-US" sz="29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Kyada</a:t>
            </a:r>
            <a:endParaRPr lang="en-US" sz="2999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47695" lvl="1" indent="-323848" algn="l">
              <a:lnSpc>
                <a:spcPts val="4199"/>
              </a:lnSpc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Mathematical and Morphological Analysis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Srujan </a:t>
            </a:r>
            <a:r>
              <a:rPr lang="en-US" sz="29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Yendugula</a:t>
            </a:r>
            <a:endParaRPr lang="en-US" sz="2999" b="1" dirty="0">
              <a:solidFill>
                <a:srgbClr val="000000"/>
              </a:solidFill>
              <a:latin typeface="Arial Bold"/>
              <a:ea typeface="Arial Bold"/>
              <a:cs typeface="Arial Bold"/>
              <a:sym typeface="Arial Bold"/>
            </a:endParaRP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Preprocessing Phase Design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 dirty="0" err="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Harshraj</a:t>
            </a:r>
            <a:r>
              <a:rPr lang="en-US" sz="2999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Solanki</a:t>
            </a:r>
          </a:p>
          <a:p>
            <a:pPr marL="647695" lvl="1" indent="-323848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Segmentation Method Research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Literature Review and Documentation was a combined effort of the whole group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1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975C8-A41B-A90C-E988-4F7663170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4C134D-D744-AE33-14D4-A6DE8FE4E015}"/>
              </a:ext>
            </a:extLst>
          </p:cNvPr>
          <p:cNvSpPr/>
          <p:nvPr/>
        </p:nvSpPr>
        <p:spPr>
          <a:xfrm>
            <a:off x="2310233" y="10132980"/>
            <a:ext cx="13861398" cy="154020"/>
          </a:xfrm>
          <a:custGeom>
            <a:avLst/>
            <a:gdLst/>
            <a:ahLst/>
            <a:cxnLst/>
            <a:rect l="l" t="t" r="r" b="b"/>
            <a:pathLst>
              <a:path w="13861398" h="154020">
                <a:moveTo>
                  <a:pt x="0" y="0"/>
                </a:moveTo>
                <a:lnTo>
                  <a:pt x="13861398" y="0"/>
                </a:lnTo>
                <a:lnTo>
                  <a:pt x="13861398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1BFB600-31E5-8647-22CA-965A1B36E40E}"/>
              </a:ext>
            </a:extLst>
          </p:cNvPr>
          <p:cNvSpPr/>
          <p:nvPr/>
        </p:nvSpPr>
        <p:spPr>
          <a:xfrm>
            <a:off x="0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35A2931-4D54-FD56-4935-0C880406D91D}"/>
              </a:ext>
            </a:extLst>
          </p:cNvPr>
          <p:cNvSpPr/>
          <p:nvPr/>
        </p:nvSpPr>
        <p:spPr>
          <a:xfrm>
            <a:off x="14542469" y="10132980"/>
            <a:ext cx="3939395" cy="154020"/>
          </a:xfrm>
          <a:custGeom>
            <a:avLst/>
            <a:gdLst/>
            <a:ahLst/>
            <a:cxnLst/>
            <a:rect l="l" t="t" r="r" b="b"/>
            <a:pathLst>
              <a:path w="3939395" h="154020">
                <a:moveTo>
                  <a:pt x="0" y="0"/>
                </a:moveTo>
                <a:lnTo>
                  <a:pt x="3939395" y="0"/>
                </a:lnTo>
                <a:lnTo>
                  <a:pt x="3939395" y="154020"/>
                </a:lnTo>
                <a:lnTo>
                  <a:pt x="0" y="1540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CEFE199-D3D6-4004-5AB3-BC687D3BB994}"/>
              </a:ext>
            </a:extLst>
          </p:cNvPr>
          <p:cNvGrpSpPr/>
          <p:nvPr/>
        </p:nvGrpSpPr>
        <p:grpSpPr>
          <a:xfrm>
            <a:off x="-96933" y="10132980"/>
            <a:ext cx="18481864" cy="154020"/>
            <a:chOff x="0" y="0"/>
            <a:chExt cx="16256000" cy="13547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4A8B48E-CC9C-A74B-4534-BAB141458210}"/>
                </a:ext>
              </a:extLst>
            </p:cNvPr>
            <p:cNvSpPr/>
            <p:nvPr/>
          </p:nvSpPr>
          <p:spPr>
            <a:xfrm>
              <a:off x="0" y="0"/>
              <a:ext cx="16256000" cy="135509"/>
            </a:xfrm>
            <a:custGeom>
              <a:avLst/>
              <a:gdLst/>
              <a:ahLst/>
              <a:cxnLst/>
              <a:rect l="l" t="t" r="r" b="b"/>
              <a:pathLst>
                <a:path w="16256000" h="135509">
                  <a:moveTo>
                    <a:pt x="0" y="0"/>
                  </a:moveTo>
                  <a:lnTo>
                    <a:pt x="16256000" y="0"/>
                  </a:lnTo>
                  <a:lnTo>
                    <a:pt x="16256000" y="135509"/>
                  </a:lnTo>
                  <a:lnTo>
                    <a:pt x="0" y="135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28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0BA6949-AFC3-819D-2D83-E023FEB9F89B}"/>
              </a:ext>
            </a:extLst>
          </p:cNvPr>
          <p:cNvSpPr/>
          <p:nvPr/>
        </p:nvSpPr>
        <p:spPr>
          <a:xfrm>
            <a:off x="543930" y="9045394"/>
            <a:ext cx="2070431" cy="908008"/>
          </a:xfrm>
          <a:custGeom>
            <a:avLst/>
            <a:gdLst/>
            <a:ahLst/>
            <a:cxnLst/>
            <a:rect l="l" t="t" r="r" b="b"/>
            <a:pathLst>
              <a:path w="2070431" h="908008">
                <a:moveTo>
                  <a:pt x="0" y="0"/>
                </a:moveTo>
                <a:lnTo>
                  <a:pt x="2070431" y="0"/>
                </a:lnTo>
                <a:lnTo>
                  <a:pt x="2070431" y="908008"/>
                </a:lnTo>
                <a:lnTo>
                  <a:pt x="0" y="9080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CFDACB72-17C9-3A8C-A8A3-717B843BF3B9}"/>
              </a:ext>
            </a:extLst>
          </p:cNvPr>
          <p:cNvGrpSpPr/>
          <p:nvPr/>
        </p:nvGrpSpPr>
        <p:grpSpPr>
          <a:xfrm>
            <a:off x="543930" y="9045394"/>
            <a:ext cx="2070431" cy="944640"/>
            <a:chOff x="0" y="0"/>
            <a:chExt cx="1821078" cy="830872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FC60C4F3-A5FF-97E9-548A-1730B46C78A5}"/>
                </a:ext>
              </a:extLst>
            </p:cNvPr>
            <p:cNvSpPr/>
            <p:nvPr/>
          </p:nvSpPr>
          <p:spPr>
            <a:xfrm>
              <a:off x="0" y="0"/>
              <a:ext cx="1821053" cy="830923"/>
            </a:xfrm>
            <a:custGeom>
              <a:avLst/>
              <a:gdLst/>
              <a:ahLst/>
              <a:cxnLst/>
              <a:rect l="l" t="t" r="r" b="b"/>
              <a:pathLst>
                <a:path w="1821053" h="830923">
                  <a:moveTo>
                    <a:pt x="0" y="0"/>
                  </a:moveTo>
                  <a:lnTo>
                    <a:pt x="1821053" y="0"/>
                  </a:lnTo>
                  <a:lnTo>
                    <a:pt x="1821053" y="830923"/>
                  </a:lnTo>
                  <a:lnTo>
                    <a:pt x="0" y="830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72565" t="-156165" r="-72141" b="-15651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C3AEBAE-1CDF-8D5F-3F2D-8BBE98E4981D}"/>
              </a:ext>
            </a:extLst>
          </p:cNvPr>
          <p:cNvSpPr txBox="1"/>
          <p:nvPr/>
        </p:nvSpPr>
        <p:spPr>
          <a:xfrm>
            <a:off x="17192832" y="9210675"/>
            <a:ext cx="285335" cy="327718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76DBDE0-8092-C81D-C82B-A91FF57BFF40}"/>
              </a:ext>
            </a:extLst>
          </p:cNvPr>
          <p:cNvSpPr txBox="1"/>
          <p:nvPr/>
        </p:nvSpPr>
        <p:spPr>
          <a:xfrm>
            <a:off x="4975145" y="895350"/>
            <a:ext cx="8337709" cy="983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sz="5999" b="1" dirty="0">
                <a:solidFill>
                  <a:srgbClr val="7D1916"/>
                </a:solidFill>
                <a:latin typeface="Arial Bold"/>
                <a:ea typeface="Arial Bold"/>
                <a:cs typeface="Arial Bold"/>
                <a:sym typeface="Arial Bold"/>
              </a:rPr>
              <a:t>References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FA0319C-8963-36ED-6E0D-D652F74BC1D6}"/>
              </a:ext>
            </a:extLst>
          </p:cNvPr>
          <p:cNvSpPr txBox="1"/>
          <p:nvPr/>
        </p:nvSpPr>
        <p:spPr>
          <a:xfrm>
            <a:off x="3122124" y="2600720"/>
            <a:ext cx="12043750" cy="6549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/>
              <a:t>M. </a:t>
            </a:r>
            <a:r>
              <a:rPr lang="en-IN" sz="2200" dirty="0" err="1"/>
              <a:t>Dawngliana</a:t>
            </a:r>
            <a:r>
              <a:rPr lang="en-IN" sz="2200" dirty="0"/>
              <a:t>, D. Deb, M. </a:t>
            </a:r>
            <a:r>
              <a:rPr lang="en-IN" sz="2200" dirty="0" err="1"/>
              <a:t>Handique</a:t>
            </a:r>
            <a:r>
              <a:rPr lang="en-IN" sz="2200" dirty="0"/>
              <a:t>, and S. Roy, "Automatic brain </a:t>
            </a:r>
            <a:r>
              <a:rPr lang="en-IN" sz="2200" dirty="0" err="1"/>
              <a:t>tumor</a:t>
            </a:r>
            <a:r>
              <a:rPr lang="en-IN" sz="2200" dirty="0"/>
              <a:t> segmentation in MRI: Hybridized multilevel thresholding and level set," in </a:t>
            </a:r>
            <a:r>
              <a:rPr lang="en-IN" sz="2200" i="1" dirty="0"/>
              <a:t>2015 International Symposium on Advanced Computing and Communication (ISACC)</a:t>
            </a:r>
            <a:r>
              <a:rPr lang="en-IN" sz="2200" dirty="0"/>
              <a:t>, </a:t>
            </a:r>
            <a:r>
              <a:rPr lang="en-IN" sz="2200" dirty="0" err="1"/>
              <a:t>Silchar</a:t>
            </a:r>
            <a:r>
              <a:rPr lang="en-IN" sz="2200" dirty="0"/>
              <a:t>, India, 2015, pp. 129–133, </a:t>
            </a:r>
            <a:r>
              <a:rPr lang="en-IN" sz="2200" dirty="0" err="1"/>
              <a:t>doi</a:t>
            </a:r>
            <a:r>
              <a:rPr lang="en-IN" sz="2200" dirty="0"/>
              <a:t>: 10.1109/ISACC.2015.7377328.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/>
              <a:t>D. Murthy T.S. and G. </a:t>
            </a:r>
            <a:r>
              <a:rPr lang="en-IN" sz="2200" dirty="0" err="1"/>
              <a:t>Sadashivappa</a:t>
            </a:r>
            <a:r>
              <a:rPr lang="en-IN" sz="2200" dirty="0"/>
              <a:t>, "Brain </a:t>
            </a:r>
            <a:r>
              <a:rPr lang="en-IN" sz="2200" dirty="0" err="1"/>
              <a:t>tumor</a:t>
            </a:r>
            <a:r>
              <a:rPr lang="en-IN" sz="2200" dirty="0"/>
              <a:t> segmentation using thresholding, morphological operations and extraction of features of </a:t>
            </a:r>
            <a:r>
              <a:rPr lang="en-IN" sz="2200" dirty="0" err="1"/>
              <a:t>tumor</a:t>
            </a:r>
            <a:r>
              <a:rPr lang="en-IN" sz="2200" dirty="0"/>
              <a:t>," in </a:t>
            </a:r>
            <a:r>
              <a:rPr lang="en-IN" sz="2200" i="1" dirty="0"/>
              <a:t>2014 International Conference on Advances in Electronics, Computers and Communications (ICAECC)</a:t>
            </a:r>
            <a:r>
              <a:rPr lang="en-IN" sz="2200" dirty="0"/>
              <a:t>, Bangalore, India, 2014, pp. 1–6, </a:t>
            </a:r>
            <a:r>
              <a:rPr lang="en-IN" sz="2200" dirty="0" err="1"/>
              <a:t>doi</a:t>
            </a:r>
            <a:r>
              <a:rPr lang="en-IN" sz="2200" dirty="0"/>
              <a:t>: 10.1109/ICAECC.2014.7002429.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/>
              <a:t>Md. R. Islam, Md. R. </a:t>
            </a:r>
            <a:r>
              <a:rPr lang="en-IN" sz="2200" dirty="0" err="1"/>
              <a:t>Imteaz</a:t>
            </a:r>
            <a:r>
              <a:rPr lang="en-IN" sz="2200" dirty="0"/>
              <a:t>, and Marium-E-Jannat, "Detection and analysis of brain </a:t>
            </a:r>
            <a:r>
              <a:rPr lang="en-IN" sz="2200" dirty="0" err="1"/>
              <a:t>tumor</a:t>
            </a:r>
            <a:r>
              <a:rPr lang="en-IN" sz="2200" dirty="0"/>
              <a:t> from MRI by integrated thresholding and morphological process with histogram based method," </a:t>
            </a:r>
            <a:r>
              <a:rPr lang="en-IN" sz="2200" i="1" dirty="0"/>
              <a:t>International Conference / Research Literature on Medical Image Processing</a:t>
            </a:r>
            <a:r>
              <a:rPr lang="en-IN" sz="2200" dirty="0"/>
              <a:t>, 2018. </a:t>
            </a:r>
          </a:p>
          <a:p>
            <a:pPr marL="457200" lvl="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200" dirty="0" err="1"/>
              <a:t>Awsaf</a:t>
            </a:r>
            <a:r>
              <a:rPr lang="en-IN" sz="2200" dirty="0"/>
              <a:t>, "Brain </a:t>
            </a:r>
            <a:r>
              <a:rPr lang="en-IN" sz="2200" dirty="0" err="1"/>
              <a:t>Tumor</a:t>
            </a:r>
            <a:r>
              <a:rPr lang="en-IN" sz="2200" dirty="0"/>
              <a:t> Segmentation (BraTS2020) Training Data," </a:t>
            </a:r>
            <a:r>
              <a:rPr lang="en-IN" sz="2200" i="1" dirty="0"/>
              <a:t>Kaggle</a:t>
            </a:r>
            <a:r>
              <a:rPr lang="en-IN" sz="2200" dirty="0"/>
              <a:t>, 2020.  Available: </a:t>
            </a:r>
            <a:r>
              <a:rPr lang="en-IN" sz="2200" dirty="0">
                <a:hlinkClick r:id="rId8"/>
              </a:rPr>
              <a:t>https://www.kaggle.com/datasets/awsaf49/brats2020-training-data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51081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593</Words>
  <Application>Microsoft Office PowerPoint</Application>
  <PresentationFormat>Custom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Wingdings</vt:lpstr>
      <vt:lpstr>IBM Plex Sans Bold</vt:lpstr>
      <vt:lpstr>Arial</vt:lpstr>
      <vt:lpstr>Calibri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G18_P20</dc:title>
  <cp:lastModifiedBy>Shaikh Abdul Wahab</cp:lastModifiedBy>
  <cp:revision>11</cp:revision>
  <dcterms:created xsi:type="dcterms:W3CDTF">2006-08-16T00:00:00Z</dcterms:created>
  <dcterms:modified xsi:type="dcterms:W3CDTF">2026-10-12T05:05:09Z</dcterms:modified>
  <dc:identifier>DAHGRkSfDTA</dc:identifier>
</cp:coreProperties>
</file>